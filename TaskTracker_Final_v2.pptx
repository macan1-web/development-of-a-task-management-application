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4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47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30621" y="10210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веб-приложения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30621" y="2232818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отслеживания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повседневных задач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252682" y="42412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731428" y="42412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Луцкин Владислав Валерьевич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52682" y="45841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Руководители: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72711" y="45841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Базяк Г.В., Закирова И.А.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109728" cy="117043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44752" y="1042416"/>
            <a:ext cx="7086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Современный человек ежедневно теряет задачи — записывает в заметки, мессенджеры, на бумагу, и всё равно забывает.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249424"/>
            <a:ext cx="84124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109728" cy="117043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44752" y="2395728"/>
            <a:ext cx="7086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Большинство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существующих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инструментов либо слишком сложные, либо платные.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841248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65760" y="3602736"/>
            <a:ext cx="109728" cy="117043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30352" y="3840480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44752" y="3749040"/>
            <a:ext cx="7086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Потребность в простом и бесплатном task-трекере — реальная и массовая.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сферы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16052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84632" y="10607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порог входа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5819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 инструменты вроде Notion требуют часов на настройку — пользователь уходит раньше, чем начнёт работать.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16052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919472" y="106070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23560" y="1097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Платный функционал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9472" y="15819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приложения быстро упираются в платную стену, хотя базовые потребности — бесплатны.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16052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84632" y="3072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Лишние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стресс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" y="35935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Перегруженные интерфейсы и уведомления сами становятся источником тревоги вместо её снижения.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907792"/>
            <a:ext cx="416052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919472" y="3072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23560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баланса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35935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предлагает либо «слишком просто», либо «слишком сложно» — золотой середины нет.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Моё решение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2336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23360" cy="7315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Минималистичное веб-приложение для управления задачами без регистрации и подписок.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Открыл — записал — закрыл.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60520" cy="3913632"/>
          </a:xfrm>
          <a:prstGeom prst="rect">
            <a:avLst/>
          </a:prstGeom>
          <a:solidFill>
            <a:srgbClr val="0D1B2A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1605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46320" y="1005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умеет: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00600" y="1481328"/>
            <a:ext cx="3886200" cy="53035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1554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 редактирование задач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139696"/>
            <a:ext cx="3886200" cy="53035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94960" y="2212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Приоритеты: низкий / средний / высокий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798064"/>
            <a:ext cx="3886200" cy="53035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846320" y="287121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28712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чётчик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456432"/>
            <a:ext cx="3886200" cy="53035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846320" y="35295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35295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Отображение</a:t>
            </a:r>
            <a:r>
              <a:rPr lang="ru-RU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задач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4114800"/>
            <a:ext cx="3886200" cy="53035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846320" y="41879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94960" y="41879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бесплатно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 капотом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011680" cy="391363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1645920" cy="3657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" y="235915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29768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Лаконичный синтаксис, мощная экосистема для backend-разработки.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68880" y="868680"/>
            <a:ext cx="2011680" cy="391363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246888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760" y="1810512"/>
            <a:ext cx="1645920" cy="3657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2578608" y="19202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78608" y="235915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Микрофреймворк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78608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Маршрутизация, обработка HTTP-методов, REST API, возврат JSON.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17720" y="868680"/>
            <a:ext cx="2011680" cy="391363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61772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0600" y="1810512"/>
            <a:ext cx="1645920" cy="3657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727448" y="19202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27448" y="235915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27448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БД без отдельного сервера. Таблица tasks хранит все данные.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66560" y="868680"/>
            <a:ext cx="2011680" cy="391363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676656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49440" y="1810512"/>
            <a:ext cx="1645920" cy="3657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6876288" y="1920240"/>
            <a:ext cx="17922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76288" y="235915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76288" y="278892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пользователя, fetch-запросы к API, динамическое обновление.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конкурентов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06750" y="978408"/>
            <a:ext cx="1920240" cy="45720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9784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99669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996696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Огромный порог входа. Нужно строить систему с нуля.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673352"/>
            <a:ext cx="8503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411480" y="1783080"/>
            <a:ext cx="1920240" cy="457200"/>
          </a:xfrm>
          <a:prstGeom prst="rect">
            <a:avLst/>
          </a:prstGeom>
          <a:solidFill>
            <a:srgbClr val="DB403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180136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71800" y="180136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функции — только по подписке.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478024"/>
            <a:ext cx="8503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11480" y="2587752"/>
            <a:ext cx="1920240" cy="457200"/>
          </a:xfrm>
          <a:prstGeom prst="rect">
            <a:avLst/>
          </a:prstGeom>
          <a:solidFill>
            <a:srgbClr val="185AB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411480" y="2587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To 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260604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71800" y="2606040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 аналитика, нет приоритетов и статистики.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282696"/>
            <a:ext cx="8503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1920240" cy="4572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11480" y="3392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TickTick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341071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971800" y="3410712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Перегружен функциями, часть платная.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087368"/>
            <a:ext cx="8503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411480" y="4197096"/>
            <a:ext cx="1920240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11480" y="419709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Any.do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06040" y="421538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971800" y="4215384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Ограниченный функционал, навязчивые уведомления.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83880" y="4818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конкурентов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rcRect l="3789" t="3082" r="1382" b="6164"/>
          <a:stretch>
            <a:fillRect/>
          </a:stretch>
        </p:blipFill>
        <p:spPr>
          <a:xfrm>
            <a:off x="3053981" y="2970298"/>
            <a:ext cx="3279227" cy="1392620"/>
          </a:xfrm>
          <a:custGeom>
            <a:avLst/>
            <a:gdLst>
              <a:gd name="connsiteX0" fmla="*/ 232108 w 3279227"/>
              <a:gd name="connsiteY0" fmla="*/ 0 h 1392620"/>
              <a:gd name="connsiteX1" fmla="*/ 3047119 w 3279227"/>
              <a:gd name="connsiteY1" fmla="*/ 0 h 1392620"/>
              <a:gd name="connsiteX2" fmla="*/ 3279227 w 3279227"/>
              <a:gd name="connsiteY2" fmla="*/ 232108 h 1392620"/>
              <a:gd name="connsiteX3" fmla="*/ 3279227 w 3279227"/>
              <a:gd name="connsiteY3" fmla="*/ 1160512 h 1392620"/>
              <a:gd name="connsiteX4" fmla="*/ 3047119 w 3279227"/>
              <a:gd name="connsiteY4" fmla="*/ 1392620 h 1392620"/>
              <a:gd name="connsiteX5" fmla="*/ 232108 w 3279227"/>
              <a:gd name="connsiteY5" fmla="*/ 1392620 h 1392620"/>
              <a:gd name="connsiteX6" fmla="*/ 0 w 3279227"/>
              <a:gd name="connsiteY6" fmla="*/ 1160512 h 1392620"/>
              <a:gd name="connsiteX7" fmla="*/ 0 w 3279227"/>
              <a:gd name="connsiteY7" fmla="*/ 232108 h 1392620"/>
              <a:gd name="connsiteX8" fmla="*/ 232108 w 3279227"/>
              <a:gd name="connsiteY8" fmla="*/ 0 h 13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79227" h="1392620">
                <a:moveTo>
                  <a:pt x="232108" y="0"/>
                </a:moveTo>
                <a:lnTo>
                  <a:pt x="3047119" y="0"/>
                </a:lnTo>
                <a:cubicBezTo>
                  <a:pt x="3175309" y="0"/>
                  <a:pt x="3279227" y="103918"/>
                  <a:pt x="3279227" y="232108"/>
                </a:cubicBezTo>
                <a:lnTo>
                  <a:pt x="3279227" y="1160512"/>
                </a:lnTo>
                <a:cubicBezTo>
                  <a:pt x="3279227" y="1288702"/>
                  <a:pt x="3175309" y="1392620"/>
                  <a:pt x="3047119" y="1392620"/>
                </a:cubicBezTo>
                <a:lnTo>
                  <a:pt x="232108" y="1392620"/>
                </a:lnTo>
                <a:cubicBezTo>
                  <a:pt x="103918" y="1392620"/>
                  <a:pt x="0" y="1288702"/>
                  <a:pt x="0" y="1160512"/>
                </a:cubicBezTo>
                <a:lnTo>
                  <a:pt x="0" y="232108"/>
                </a:lnTo>
                <a:cubicBezTo>
                  <a:pt x="0" y="103918"/>
                  <a:pt x="103918" y="0"/>
                  <a:pt x="232108" y="0"/>
                </a:cubicBezTo>
                <a:close/>
              </a:path>
            </a:pathLst>
          </a:custGeom>
        </p:spPr>
      </p:pic>
      <p:pic>
        <p:nvPicPr>
          <p:cNvPr id="40" name="Рисунок 3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04257" y="794652"/>
            <a:ext cx="3167743" cy="1831351"/>
          </a:xfrm>
          <a:custGeom>
            <a:avLst/>
            <a:gdLst>
              <a:gd name="connsiteX0" fmla="*/ 475015 w 4929787"/>
              <a:gd name="connsiteY0" fmla="*/ 0 h 2850033"/>
              <a:gd name="connsiteX1" fmla="*/ 4454772 w 4929787"/>
              <a:gd name="connsiteY1" fmla="*/ 0 h 2850033"/>
              <a:gd name="connsiteX2" fmla="*/ 4929787 w 4929787"/>
              <a:gd name="connsiteY2" fmla="*/ 475015 h 2850033"/>
              <a:gd name="connsiteX3" fmla="*/ 4929787 w 4929787"/>
              <a:gd name="connsiteY3" fmla="*/ 2375018 h 2850033"/>
              <a:gd name="connsiteX4" fmla="*/ 4454772 w 4929787"/>
              <a:gd name="connsiteY4" fmla="*/ 2850033 h 2850033"/>
              <a:gd name="connsiteX5" fmla="*/ 475015 w 4929787"/>
              <a:gd name="connsiteY5" fmla="*/ 2850033 h 2850033"/>
              <a:gd name="connsiteX6" fmla="*/ 0 w 4929787"/>
              <a:gd name="connsiteY6" fmla="*/ 2375018 h 2850033"/>
              <a:gd name="connsiteX7" fmla="*/ 0 w 4929787"/>
              <a:gd name="connsiteY7" fmla="*/ 475015 h 2850033"/>
              <a:gd name="connsiteX8" fmla="*/ 475015 w 4929787"/>
              <a:gd name="connsiteY8" fmla="*/ 0 h 2850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29787" h="2850033">
                <a:moveTo>
                  <a:pt x="475015" y="0"/>
                </a:moveTo>
                <a:lnTo>
                  <a:pt x="4454772" y="0"/>
                </a:lnTo>
                <a:cubicBezTo>
                  <a:pt x="4717116" y="0"/>
                  <a:pt x="4929787" y="212671"/>
                  <a:pt x="4929787" y="475015"/>
                </a:cubicBezTo>
                <a:lnTo>
                  <a:pt x="4929787" y="2375018"/>
                </a:lnTo>
                <a:cubicBezTo>
                  <a:pt x="4929787" y="2637362"/>
                  <a:pt x="4717116" y="2850033"/>
                  <a:pt x="4454772" y="2850033"/>
                </a:cubicBezTo>
                <a:lnTo>
                  <a:pt x="475015" y="2850033"/>
                </a:lnTo>
                <a:cubicBezTo>
                  <a:pt x="212671" y="2850033"/>
                  <a:pt x="0" y="2637362"/>
                  <a:pt x="0" y="2375018"/>
                </a:cubicBezTo>
                <a:lnTo>
                  <a:pt x="0" y="475015"/>
                </a:lnTo>
                <a:cubicBezTo>
                  <a:pt x="0" y="212671"/>
                  <a:pt x="212671" y="0"/>
                  <a:pt x="475015" y="0"/>
                </a:cubicBezTo>
                <a:close/>
              </a:path>
            </a:pathLst>
          </a:custGeom>
        </p:spPr>
      </p:pic>
      <p:pic>
        <p:nvPicPr>
          <p:cNvPr id="42" name="Рисунок 4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97820" y="763524"/>
            <a:ext cx="3257821" cy="1893609"/>
          </a:xfrm>
          <a:custGeom>
            <a:avLst/>
            <a:gdLst>
              <a:gd name="connsiteX0" fmla="*/ 668649 w 6902047"/>
              <a:gd name="connsiteY0" fmla="*/ 0 h 4011815"/>
              <a:gd name="connsiteX1" fmla="*/ 6233399 w 6902047"/>
              <a:gd name="connsiteY1" fmla="*/ 0 h 4011815"/>
              <a:gd name="connsiteX2" fmla="*/ 6888464 w 6902047"/>
              <a:gd name="connsiteY2" fmla="*/ 533893 h 4011815"/>
              <a:gd name="connsiteX3" fmla="*/ 6902047 w 6902047"/>
              <a:gd name="connsiteY3" fmla="*/ 668639 h 4011815"/>
              <a:gd name="connsiteX4" fmla="*/ 6902047 w 6902047"/>
              <a:gd name="connsiteY4" fmla="*/ 3343176 h 4011815"/>
              <a:gd name="connsiteX5" fmla="*/ 6888464 w 6902047"/>
              <a:gd name="connsiteY5" fmla="*/ 3477922 h 4011815"/>
              <a:gd name="connsiteX6" fmla="*/ 6233399 w 6902047"/>
              <a:gd name="connsiteY6" fmla="*/ 4011815 h 4011815"/>
              <a:gd name="connsiteX7" fmla="*/ 668649 w 6902047"/>
              <a:gd name="connsiteY7" fmla="*/ 4011815 h 4011815"/>
              <a:gd name="connsiteX8" fmla="*/ 0 w 6902047"/>
              <a:gd name="connsiteY8" fmla="*/ 3343166 h 4011815"/>
              <a:gd name="connsiteX9" fmla="*/ 0 w 6902047"/>
              <a:gd name="connsiteY9" fmla="*/ 668649 h 4011815"/>
              <a:gd name="connsiteX10" fmla="*/ 668649 w 6902047"/>
              <a:gd name="connsiteY10" fmla="*/ 0 h 4011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02047" h="4011815">
                <a:moveTo>
                  <a:pt x="668649" y="0"/>
                </a:moveTo>
                <a:lnTo>
                  <a:pt x="6233399" y="0"/>
                </a:lnTo>
                <a:cubicBezTo>
                  <a:pt x="6556524" y="0"/>
                  <a:pt x="6826115" y="229201"/>
                  <a:pt x="6888464" y="533893"/>
                </a:cubicBezTo>
                <a:lnTo>
                  <a:pt x="6902047" y="668639"/>
                </a:lnTo>
                <a:lnTo>
                  <a:pt x="6902047" y="3343176"/>
                </a:lnTo>
                <a:lnTo>
                  <a:pt x="6888464" y="3477922"/>
                </a:lnTo>
                <a:cubicBezTo>
                  <a:pt x="6826115" y="3782615"/>
                  <a:pt x="6556524" y="4011815"/>
                  <a:pt x="6233399" y="4011815"/>
                </a:cubicBezTo>
                <a:lnTo>
                  <a:pt x="668649" y="4011815"/>
                </a:lnTo>
                <a:cubicBezTo>
                  <a:pt x="299364" y="4011815"/>
                  <a:pt x="0" y="3712451"/>
                  <a:pt x="0" y="3343166"/>
                </a:cubicBezTo>
                <a:lnTo>
                  <a:pt x="0" y="668649"/>
                </a:lnTo>
                <a:cubicBezTo>
                  <a:pt x="0" y="299364"/>
                  <a:pt x="299364" y="0"/>
                  <a:pt x="66864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3621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Мои преимущества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1769" y="880110"/>
            <a:ext cx="269748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274320" y="97840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🆓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бесплатно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2478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функционал доступен сразу. Никакой подписки и скрытых ограничений.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9748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246120" y="97840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55848" y="15270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порог входа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74520"/>
            <a:ext cx="2478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Открыл в браузере — уже работает. Регистрация и обучение не нужны.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868680"/>
            <a:ext cx="269748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217920" y="97840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27648" y="1527048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нужное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874520"/>
            <a:ext cx="2478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вики, досок и командных пространств — только задачи.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783080" y="2907792"/>
            <a:ext cx="269748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783080" y="3017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92808" y="35661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Психологический эффект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92808" y="3913632"/>
            <a:ext cx="2478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Записал задачу — мозг отпустил её. Приоритеты и статистика снижают стресс.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2697480" cy="1810512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bg1">
                    <a:lumMod val="95000"/>
                  </a:schemeClr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64608" y="3566160"/>
            <a:ext cx="2478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3913632"/>
            <a:ext cx="2478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можно развернуть локально, доработать под себя и изучить изнутри.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</a:rPr>
              <a:t>Будущие обновления</a:t>
            </a:r>
            <a:endParaRPr lang="en-US" sz="3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470292" y="1138060"/>
            <a:ext cx="2760421" cy="161565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877358" y="1390676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53265" y="1955922"/>
            <a:ext cx="2777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Система авторизации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453265" y="2264138"/>
            <a:ext cx="346904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Личные аккаунты пользователей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Shape 4"/>
          <p:cNvSpPr/>
          <p:nvPr/>
        </p:nvSpPr>
        <p:spPr>
          <a:xfrm>
            <a:off x="4473195" y="1173871"/>
            <a:ext cx="2760421" cy="161565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</a:t>
            </a: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73194" y="1897324"/>
            <a:ext cx="26918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Расширенные настройки интерфейса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73194" y="2244796"/>
            <a:ext cx="269180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Повышение стабильности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80413" y="1360903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800" dirty="0"/>
          </a:p>
        </p:txBody>
      </p:sp>
      <p:sp>
        <p:nvSpPr>
          <p:cNvPr id="32" name="Shape 4"/>
          <p:cNvSpPr/>
          <p:nvPr/>
        </p:nvSpPr>
        <p:spPr>
          <a:xfrm>
            <a:off x="4473195" y="3006326"/>
            <a:ext cx="2760421" cy="161565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4"/>
          <p:cNvSpPr/>
          <p:nvPr/>
        </p:nvSpPr>
        <p:spPr>
          <a:xfrm>
            <a:off x="1470293" y="3006326"/>
            <a:ext cx="2760421" cy="161565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835519" y="3188732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70292" y="3626333"/>
            <a:ext cx="27604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Мобильная версия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70292" y="3973805"/>
            <a:ext cx="276042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Push-уведомления о дедлайнах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4112" y="3188732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73195" y="3958892"/>
            <a:ext cx="27604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ru-RU" sz="14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chemeClr val="bg1">
                    <a:lumMod val="95000"/>
                  </a:schemeClr>
                </a:solidFill>
              </a:rPr>
              <a:t>Интеграция с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TG</a:t>
            </a:r>
            <a:r>
              <a:rPr lang="ru-RU" sz="1400" dirty="0">
                <a:solidFill>
                  <a:schemeClr val="bg1">
                    <a:lumMod val="95000"/>
                  </a:schemeClr>
                </a:solidFill>
              </a:rPr>
              <a:t> ботом 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73194" y="3624993"/>
            <a:ext cx="27604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Командный режим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0292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600" dirty="0"/>
          </a:p>
        </p:txBody>
      </p:sp>
      <p:sp>
        <p:nvSpPr>
          <p:cNvPr id="5" name="Card1Bg"/>
          <p:cNvSpPr/>
          <p:nvPr/>
        </p:nvSpPr>
        <p:spPr>
          <a:xfrm>
            <a:off x="320040" y="1082062"/>
            <a:ext cx="2700000" cy="170000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Card1Text"/>
          <p:cNvSpPr/>
          <p:nvPr/>
        </p:nvSpPr>
        <p:spPr>
          <a:xfrm>
            <a:off x="490000" y="1123382"/>
            <a:ext cx="2480000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2200" b="1" dirty="0">
                <a:solidFill>
                  <a:srgbClr val="38BDF8"/>
                </a:solidFill>
                <a:latin typeface="Calibri" pitchFamily="34" charset="0"/>
              </a:rPr>
              <a:t>✅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Calibri" pitchFamily="34" charset="0"/>
              </a:rPr>
              <a:t>Цель достигнута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7B95B4"/>
                </a:solidFill>
                <a:latin typeface="Calibri" pitchFamily="34" charset="0"/>
              </a:rPr>
              <a:t>Создан рабочий task-трекер, решающий реальную потребность пользователей в простом и бесплатном инструменте.</a:t>
            </a:r>
          </a:p>
        </p:txBody>
      </p:sp>
      <p:sp>
        <p:nvSpPr>
          <p:cNvPr id="8" name="Card2Bg"/>
          <p:cNvSpPr/>
          <p:nvPr/>
        </p:nvSpPr>
        <p:spPr>
          <a:xfrm>
            <a:off x="3168000" y="1082062"/>
            <a:ext cx="2700000" cy="170000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Card2Text"/>
          <p:cNvSpPr/>
          <p:nvPr/>
        </p:nvSpPr>
        <p:spPr>
          <a:xfrm>
            <a:off x="3338000" y="1123382"/>
            <a:ext cx="2480000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2200" b="1" dirty="0">
                <a:solidFill>
                  <a:srgbClr val="38BDF8"/>
                </a:solidFill>
                <a:latin typeface="Calibri" pitchFamily="34" charset="0"/>
              </a:rPr>
              <a:t>💻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Calibri" pitchFamily="34" charset="0"/>
              </a:rPr>
              <a:t>Освоен стек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7B95B4"/>
                </a:solidFill>
                <a:latin typeface="Calibri" pitchFamily="34" charset="0"/>
              </a:rPr>
              <a:t>Применены Python, Flask, SQLite и современный frontend. Реализован полноценный REST API с базой данных.</a:t>
            </a:r>
          </a:p>
        </p:txBody>
      </p:sp>
      <p:sp>
        <p:nvSpPr>
          <p:cNvPr id="11" name="Card3Bg"/>
          <p:cNvSpPr/>
          <p:nvPr/>
        </p:nvSpPr>
        <p:spPr>
          <a:xfrm>
            <a:off x="6016000" y="1082062"/>
            <a:ext cx="2700000" cy="1700000"/>
          </a:xfrm>
          <a:prstGeom prst="rect">
            <a:avLst/>
          </a:prstGeom>
          <a:solidFill>
            <a:srgbClr val="1A2E45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Card3Text"/>
          <p:cNvSpPr/>
          <p:nvPr/>
        </p:nvSpPr>
        <p:spPr>
          <a:xfrm>
            <a:off x="6186000" y="1123382"/>
            <a:ext cx="2480000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2200" b="1" dirty="0">
                <a:solidFill>
                  <a:srgbClr val="38BDF8"/>
                </a:solidFill>
                <a:latin typeface="Calibri" pitchFamily="34" charset="0"/>
              </a:rPr>
              <a:t>🚀</a:t>
            </a:r>
          </a:p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Calibri" pitchFamily="34" charset="0"/>
              </a:rPr>
              <a:t>Потенциал роста</a:t>
            </a:r>
          </a:p>
          <a:p>
            <a:pPr marL="0" indent="0">
              <a:buNone/>
            </a:pPr>
            <a:r>
              <a:rPr lang="ru-RU" sz="1000" dirty="0">
                <a:solidFill>
                  <a:srgbClr val="7B95B4"/>
                </a:solidFill>
                <a:latin typeface="Calibri" pitchFamily="34" charset="0"/>
              </a:rPr>
              <a:t>Проект открыт для развития: авторизация, мобильная версия, командный режим и Telegram-бот.</a:t>
            </a:r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ru-RU" sz="900" dirty="0">
                <a:solidFill>
                  <a:srgbClr val="7B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696" y="3063030"/>
            <a:ext cx="1737570" cy="17375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722" y="3473669"/>
            <a:ext cx="4630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Код находиться в открытом доступе и каждый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ru-RU" sz="1600" dirty="0">
                <a:solidFill>
                  <a:schemeClr val="bg1"/>
                </a:solidFill>
              </a:rPr>
              <a:t>желающий может опробовать приложение БЕСПЛАТНО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ru-RU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534</Words>
  <Application>Microsoft Office PowerPoint</Application>
  <PresentationFormat>Экран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 Emoji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10</cp:revision>
  <dcterms:created xsi:type="dcterms:W3CDTF">2026-04-09T07:14:33Z</dcterms:created>
  <dcterms:modified xsi:type="dcterms:W3CDTF">2026-04-15T23:46:32Z</dcterms:modified>
</cp:coreProperties>
</file>